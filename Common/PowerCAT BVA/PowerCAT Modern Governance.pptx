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9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10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5E-4067-8990-BB8CE6C5D629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5E-4067-8990-BB8CE6C5D629}"/>
              </c:ext>
            </c:extLst>
          </c:dPt>
          <c:dPt>
            <c:idx val="2"/>
            <c:bubble3D val="0"/>
            <c:spPr>
              <a:solidFill>
                <a:srgbClr val="2BB0C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25E-4067-8990-BB8CE6C5D629}"/>
              </c:ext>
            </c:extLst>
          </c:dPt>
          <c:cat>
            <c:strRef>
              <c:f>Sheet1!$A$2:$A$4</c:f>
              <c:strCache>
                <c:ptCount val="3"/>
                <c:pt idx="0">
                  <c:v>No owner / unknown</c:v>
                </c:pt>
                <c:pt idx="1">
                  <c:v>Orphaned (departed)</c:v>
                </c:pt>
                <c:pt idx="2">
                  <c:v>Active &amp; governed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</c:v>
                </c:pt>
                <c:pt idx="1">
                  <c:v>1200</c:v>
                </c:pt>
                <c:pt idx="2">
                  <c:v>2800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5E-4067-8990-BB8CE6C5D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DA4D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23232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Operations</c:v>
                </c:pt>
                <c:pt idx="1">
                  <c:v>Finance</c:v>
                </c:pt>
                <c:pt idx="2">
                  <c:v>Supply Chain</c:v>
                </c:pt>
                <c:pt idx="3">
                  <c:v>HR</c:v>
                </c:pt>
                <c:pt idx="4">
                  <c:v>Sales</c:v>
                </c:pt>
                <c:pt idx="5">
                  <c:v>R&amp;D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</c:v>
                </c:pt>
                <c:pt idx="1">
                  <c:v>280</c:v>
                </c:pt>
                <c:pt idx="2">
                  <c:v>210</c:v>
                </c:pt>
                <c:pt idx="3">
                  <c:v>150</c:v>
                </c:pt>
                <c:pt idx="4">
                  <c:v>130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18-47FE-A79D-FE1CD2CD93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84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7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8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8321040" y="0"/>
            <a:ext cx="73152" cy="685800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9098280" y="205740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009" y="2402129"/>
            <a:ext cx="636422" cy="6364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61320" y="338328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177" y="3609137"/>
            <a:ext cx="416966" cy="41696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98280" y="39776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8475" y="4167835"/>
            <a:ext cx="351130" cy="351130"/>
          </a:xfrm>
          <a:prstGeom prst="rect">
            <a:avLst/>
          </a:prstGeom>
        </p:spPr>
      </p:pic>
      <p:pic>
        <p:nvPicPr>
          <p:cNvPr id="10" name="Image 3" descr="powercat-logo-b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66928"/>
            <a:ext cx="786384" cy="6035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91640" y="676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CAT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68680" y="1700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233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  ·  GOVERNANCE STRATEGY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41248" y="20116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governance for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</a:t>
            </a:r>
            <a:endParaRPr lang="en-US" sz="4000" dirty="0"/>
          </a:p>
        </p:txBody>
      </p:sp>
      <p:sp>
        <p:nvSpPr>
          <p:cNvPr id="15" name="Text 9"/>
          <p:cNvSpPr/>
          <p:nvPr/>
        </p:nvSpPr>
        <p:spPr>
          <a:xfrm>
            <a:off x="868680" y="37947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Visibility, business value and control at scale — built on the Power Platform admin center, Managed Environments and AI-driven administration.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868680" y="5212080"/>
            <a:ext cx="6949440" cy="18288"/>
          </a:xfrm>
          <a:prstGeom prst="rect">
            <a:avLst/>
          </a:prstGeom>
          <a:solidFill>
            <a:srgbClr val="E6E7E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1"/>
          <p:cNvSpPr/>
          <p:nvPr/>
        </p:nvSpPr>
        <p:spPr>
          <a:xfrm>
            <a:off x="868680" y="535838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CAT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91440" cy="1280160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758952" y="18288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2018995"/>
            <a:ext cx="351130" cy="3511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17922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Today's governance challenges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691640" y="21945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visibility, compliance and value measurement stand right now.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17920" y="155448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91440" cy="128016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473952" y="18288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201899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17922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The platform shift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406640" y="21945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CoE Starter Kit gave way to native, supported capabilities.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3035808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7"/>
          <p:cNvSpPr/>
          <p:nvPr/>
        </p:nvSpPr>
        <p:spPr>
          <a:xfrm>
            <a:off x="502920" y="3035808"/>
            <a:ext cx="91440" cy="1280160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758952" y="331012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" y="3500323"/>
            <a:ext cx="351130" cy="3511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32735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Native governance at scale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691640" y="36758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Managed Environments, Advisor and default-env routing.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17920" y="3035808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2"/>
          <p:cNvSpPr/>
          <p:nvPr/>
        </p:nvSpPr>
        <p:spPr>
          <a:xfrm>
            <a:off x="6217920" y="3035808"/>
            <a:ext cx="91440" cy="1280160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3"/>
          <p:cNvSpPr/>
          <p:nvPr/>
        </p:nvSpPr>
        <p:spPr>
          <a:xfrm>
            <a:off x="6473952" y="331012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F1D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147" y="3500323"/>
            <a:ext cx="351130" cy="35113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06640" y="32735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Measuring business value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406640" y="36758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approach to capture and roll up ROI — with a live prototype.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02920" y="4517136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3" name="Shape 27"/>
          <p:cNvSpPr/>
          <p:nvPr/>
        </p:nvSpPr>
        <p:spPr>
          <a:xfrm>
            <a:off x="502920" y="4517136"/>
            <a:ext cx="91440" cy="1280160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28"/>
          <p:cNvSpPr/>
          <p:nvPr/>
        </p:nvSpPr>
        <p:spPr>
          <a:xfrm>
            <a:off x="758952" y="4791456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147" y="4981651"/>
            <a:ext cx="351130" cy="35113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91640" y="4754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Agentic administration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1691640" y="51572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governance in natural language with MCP and AI agents.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217920" y="4517136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9" name="Shape 32"/>
          <p:cNvSpPr/>
          <p:nvPr/>
        </p:nvSpPr>
        <p:spPr>
          <a:xfrm>
            <a:off x="6217920" y="4517136"/>
            <a:ext cx="91440" cy="1280160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0" name="Shape 33"/>
          <p:cNvSpPr/>
          <p:nvPr/>
        </p:nvSpPr>
        <p:spPr>
          <a:xfrm>
            <a:off x="6473952" y="4791456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4147" y="4981651"/>
            <a:ext cx="351130" cy="35113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06640" y="4754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A phased plan &amp; next steps</a:t>
            </a:r>
            <a:endParaRPr lang="en-US" sz="1550" dirty="0"/>
          </a:p>
        </p:txBody>
      </p:sp>
      <p:sp>
        <p:nvSpPr>
          <p:cNvPr id="43" name="Text 35"/>
          <p:cNvSpPr/>
          <p:nvPr/>
        </p:nvSpPr>
        <p:spPr>
          <a:xfrm>
            <a:off x="7406640" y="51572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pragmatic sequence — and where we go from here.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governance challenges to solve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3593592" cy="82296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758952" y="180136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92" y="1986808"/>
            <a:ext cx="342351" cy="34235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26060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inventory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8952" y="29718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differ between environments, so there's no single source of truth for the estate.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5087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4343400" y="1508760"/>
            <a:ext cx="3593592" cy="82296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4599432" y="180136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BF1D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872" y="1986808"/>
            <a:ext cx="342351" cy="34235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99432" y="26060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with no visibility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99432" y="29718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large tail of apps where it's unclear if the owner is still here — or if the app is still used.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83880" y="15087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7"/>
          <p:cNvSpPr/>
          <p:nvPr/>
        </p:nvSpPr>
        <p:spPr>
          <a:xfrm>
            <a:off x="8183880" y="1508760"/>
            <a:ext cx="3593592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8439912" y="180136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352" y="1986808"/>
            <a:ext cx="342351" cy="34235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39912" y="26060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processes don't run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439912" y="29718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compliance and business-value processes are unreliable and hard to maintain.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2920" y="3785616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2"/>
          <p:cNvSpPr/>
          <p:nvPr/>
        </p:nvSpPr>
        <p:spPr>
          <a:xfrm>
            <a:off x="502920" y="3785616"/>
            <a:ext cx="3593592" cy="82296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3"/>
          <p:cNvSpPr/>
          <p:nvPr/>
        </p:nvSpPr>
        <p:spPr>
          <a:xfrm>
            <a:off x="758952" y="4078224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92" y="4263664"/>
            <a:ext cx="342351" cy="34235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8952" y="48828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is hard to prove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58952" y="5248656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tangible, consolidated way to show the time and cost the platform saves.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343400" y="3785616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3" name="Shape 27"/>
          <p:cNvSpPr/>
          <p:nvPr/>
        </p:nvSpPr>
        <p:spPr>
          <a:xfrm>
            <a:off x="4343400" y="3785616"/>
            <a:ext cx="3593592" cy="82296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28"/>
          <p:cNvSpPr/>
          <p:nvPr/>
        </p:nvSpPr>
        <p:spPr>
          <a:xfrm>
            <a:off x="4599432" y="4078224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872" y="4263664"/>
            <a:ext cx="342351" cy="34235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99432" y="48828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is manual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4599432" y="5248656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Orphan cleanup and control take too much hands-on effort from a small IT team.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183880" y="3785616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9" name="Shape 32"/>
          <p:cNvSpPr/>
          <p:nvPr/>
        </p:nvSpPr>
        <p:spPr>
          <a:xfrm>
            <a:off x="8183880" y="3785616"/>
            <a:ext cx="3593592" cy="82296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0" name="Shape 33"/>
          <p:cNvSpPr/>
          <p:nvPr/>
        </p:nvSpPr>
        <p:spPr>
          <a:xfrm>
            <a:off x="8439912" y="4078224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5352" y="4263664"/>
            <a:ext cx="342351" cy="342351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439912" y="48828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env as production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8439912" y="5248656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Business-critical apps live where there's no structured governance model.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SHIFT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CoE Starter Kit is now deprecated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has moved these capabilities into the supported, first-party platform. Per Microsoft Learn: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611880" cy="82296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758952" y="22860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F1D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452421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232257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7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features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8952" y="31089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CoE Starter Kit is no longer receiving ongoing feature investments or updates.”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61688" y="201168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4361688" y="2011680"/>
            <a:ext cx="3611880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4617720" y="22860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245242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13248" y="232257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2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bug fixes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17720" y="31089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“Issues are no longer reviewed or addressed.”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220456" y="201168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8220456" y="2011680"/>
            <a:ext cx="3611880" cy="82296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Shape 19"/>
          <p:cNvSpPr/>
          <p:nvPr/>
        </p:nvSpPr>
        <p:spPr>
          <a:xfrm>
            <a:off x="8476488" y="22860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909" y="245242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72016" y="232257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admin center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476488" y="31089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“Organizations are encouraged to use the Power Platform admin center as the central experience for governance.”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02920" y="4572000"/>
            <a:ext cx="11155680" cy="1325880"/>
          </a:xfrm>
          <a:prstGeom prst="rect">
            <a:avLst/>
          </a:prstGeom>
          <a:solidFill>
            <a:srgbClr val="E0F4F7"/>
          </a:solidFill>
          <a:ln w="12700">
            <a:solidFill>
              <a:srgbClr val="2BB0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Shape 23"/>
          <p:cNvSpPr/>
          <p:nvPr/>
        </p:nvSpPr>
        <p:spPr>
          <a:xfrm>
            <a:off x="777240" y="48920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507034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91640" y="4736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means for us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691640" y="508406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Rather than maintaining a community toolkit, we adopt the native capabilities it was always a stand-in for — supported, continuously improved, and built for enterprise scale.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50292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Microsoft Learn — Power Platform CoE Starter Kit guidance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REPLACEMENT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moved into the admin center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697480" cy="640080"/>
          </a:xfrm>
          <a:prstGeom prst="rect">
            <a:avLst/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758952" y="17373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34" y="1939442"/>
            <a:ext cx="373075" cy="3730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2450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8952" y="29443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Unified, tenant-wide view of every app, flow and agent. Changes appear within 15 minutes. Export to Excel.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401568" y="15544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3401568" y="1554480"/>
            <a:ext cx="2697480" cy="640080"/>
          </a:xfrm>
          <a:prstGeom prst="rect">
            <a:avLst/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3657600" y="17373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682" y="1939442"/>
            <a:ext cx="373075" cy="3730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7600" y="2450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657600" y="29443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tracking — top resources and their owners, surfaced automatically.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300216" y="15544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7"/>
          <p:cNvSpPr/>
          <p:nvPr/>
        </p:nvSpPr>
        <p:spPr>
          <a:xfrm>
            <a:off x="6300216" y="1554480"/>
            <a:ext cx="2697480" cy="640080"/>
          </a:xfrm>
          <a:prstGeom prst="rect">
            <a:avLst/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6556248" y="17373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330" y="1939442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56248" y="2450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556248" y="29443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health of your most heavily used resources, in real time.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9198864" y="15544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2"/>
          <p:cNvSpPr/>
          <p:nvPr/>
        </p:nvSpPr>
        <p:spPr>
          <a:xfrm>
            <a:off x="9198864" y="1554480"/>
            <a:ext cx="2697480" cy="640080"/>
          </a:xfrm>
          <a:prstGeom prst="rect">
            <a:avLst/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3"/>
          <p:cNvSpPr/>
          <p:nvPr/>
        </p:nvSpPr>
        <p:spPr>
          <a:xfrm>
            <a:off x="9454896" y="17373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978" y="1939442"/>
            <a:ext cx="373075" cy="3730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54896" y="2450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/ Advisor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454896" y="29443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Best-practice recommendations with inline and automated remediation.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02920" y="4663440"/>
            <a:ext cx="11155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3" name="Shape 27"/>
          <p:cNvSpPr/>
          <p:nvPr/>
        </p:nvSpPr>
        <p:spPr>
          <a:xfrm>
            <a:off x="777240" y="495604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1" y="5122469"/>
            <a:ext cx="307238" cy="30723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00200" y="48920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full programmatic access:  </a:t>
            </a:r>
            <a:r>
              <a:rPr lang="en-US" sz="13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 CLI · Power Platform API · Inventory API · Power Platform for Admins V2 connector — everything is scriptable and automatable.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MAPPING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 Starter Kit → native Power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CoE Starter Kit capability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replacement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Inventory sync (apps, flows, agents)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PPAC Inventory + Inventory API (15-min refresh)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CoE Power BI dashboard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 + data export to Log Analytics / Power BI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log / activity sync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Purview audit logs + Usage + data export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Archive &amp; clean up orphaned apps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Actions / Advisor + inactive-resource cleanup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 environment clean-up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 environment routing + DLP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app / flow quarantine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quarantine (Admin connector) + Managed 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DLP editor / customizer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Policies (DLP) + tenant isolation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66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Compliance process (email makers)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Managed Env controls + light email-the-owner flow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A7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232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 value assessment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Purpose-built value app (prototype proposed)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233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of what we rely on is already native and more reliable. Only two processes need a small build — and they're the two that matter most.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GOVERNANCE — VISIBILITY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trust in the inventory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consistent, real-time view replaces a sync that drifts between environments.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457200" cy="457200"/>
          </a:xfrm>
          <a:prstGeom prst="ellipse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579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7280" y="24871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PPAC Inventory shows every app, flow &amp; agent tenant-wide — refreshed within 15 minutes.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670048"/>
            <a:ext cx="0" cy="640080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3924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the tail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97280" y="37216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owner = departed user, last-launched date and environment to triage in minutes.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904488"/>
            <a:ext cx="0" cy="640080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457200" cy="457200"/>
          </a:xfrm>
          <a:prstGeom prst="ellipse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6268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97280" y="49560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 proactively flags departing-owner resources for transfer or clean-up.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1463040"/>
            <a:ext cx="4983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69037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blind spots to control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by visibility status (illustrative)</a:t>
            </a:r>
            <a:endParaRPr lang="en-US" sz="10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812280" y="2286000"/>
          <a:ext cx="47091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GOVERNANCE —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compliance process that actually runs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3492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49240" cy="566928"/>
          </a:xfrm>
          <a:prstGeom prst="rect">
            <a:avLst/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58368" y="15179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36776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517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Native, supported controls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7724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checker enforcement on every managed environment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Sharing limits to control who apps are shared with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 welcome content &amp; guardrails set centrally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app / flow quarantine to pause risky resources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DLP data policies + tenant isolation across the estate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56235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5623560" cy="566928"/>
          </a:xfrm>
          <a:prstGeom prst="rect">
            <a:avLst/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190488" y="15179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367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1517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“attest-your-app” flow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309360" y="2286000"/>
            <a:ext cx="420624" cy="420624"/>
          </a:xfrm>
          <a:prstGeom prst="ellipse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6"/>
          <p:cNvSpPr/>
          <p:nvPr/>
        </p:nvSpPr>
        <p:spPr>
          <a:xfrm>
            <a:off x="630936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85800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858000" y="2560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API lists apps that need an annual compliance attestation.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19672" y="2724912"/>
            <a:ext cx="0" cy="384048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0"/>
          <p:cNvSpPr/>
          <p:nvPr/>
        </p:nvSpPr>
        <p:spPr>
          <a:xfrm>
            <a:off x="6309360" y="3172968"/>
            <a:ext cx="420624" cy="420624"/>
          </a:xfrm>
          <a:prstGeom prst="ellipse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1"/>
          <p:cNvSpPr/>
          <p:nvPr/>
        </p:nvSpPr>
        <p:spPr>
          <a:xfrm>
            <a:off x="630936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85800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owner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858000" y="34472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flow emails each owner: confirm purpose, data and continued use.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19672" y="3611880"/>
            <a:ext cx="0" cy="384048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5"/>
          <p:cNvSpPr/>
          <p:nvPr/>
        </p:nvSpPr>
        <p:spPr>
          <a:xfrm>
            <a:off x="6309360" y="4059936"/>
            <a:ext cx="420624" cy="420624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Text 26"/>
          <p:cNvSpPr/>
          <p:nvPr/>
        </p:nvSpPr>
        <p:spPr>
          <a:xfrm>
            <a:off x="630936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858000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858000" y="433425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response in N days → reminder, then managed quarantine.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519672" y="4498848"/>
            <a:ext cx="0" cy="384048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0"/>
          <p:cNvSpPr/>
          <p:nvPr/>
        </p:nvSpPr>
        <p:spPr>
          <a:xfrm>
            <a:off x="6309360" y="4946904"/>
            <a:ext cx="420624" cy="420624"/>
          </a:xfrm>
          <a:prstGeom prst="ellipse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Text 31"/>
          <p:cNvSpPr/>
          <p:nvPr/>
        </p:nvSpPr>
        <p:spPr>
          <a:xfrm>
            <a:off x="630936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858000" y="4928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6858000" y="522122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Responses stored in Dataverse for a clean audit trail.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GOVERNANCE — AT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 at scale with low IT overhead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3492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49240" cy="566928"/>
          </a:xfrm>
          <a:prstGeom prst="rect">
            <a:avLst/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58368" y="15179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36776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517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Environments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7724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with existing standalone &amp; D365 licences — no new SKU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digest + Advisor recommendations delivered automatically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Sharing limits, solution-checker enforcement &amp; maker controls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or automated remediation via the Admin V2 connector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Default-environment routing pushes new apps into a governed home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56235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5623560" cy="566928"/>
          </a:xfrm>
          <a:prstGeom prst="rect">
            <a:avLst/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190488" y="15179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367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1517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Orphan-app clean-up, automated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309360" y="2286000"/>
            <a:ext cx="420624" cy="420624"/>
          </a:xfrm>
          <a:prstGeom prst="ellipse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6"/>
          <p:cNvSpPr/>
          <p:nvPr/>
        </p:nvSpPr>
        <p:spPr>
          <a:xfrm>
            <a:off x="630936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85800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858000" y="2560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 flags an app whose owner has left the company.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19672" y="2724912"/>
            <a:ext cx="0" cy="384048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0"/>
          <p:cNvSpPr/>
          <p:nvPr/>
        </p:nvSpPr>
        <p:spPr>
          <a:xfrm>
            <a:off x="6309360" y="3172968"/>
            <a:ext cx="420624" cy="420624"/>
          </a:xfrm>
          <a:prstGeom prst="ellipse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1"/>
          <p:cNvSpPr/>
          <p:nvPr/>
        </p:nvSpPr>
        <p:spPr>
          <a:xfrm>
            <a:off x="630936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85800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manager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858000" y="34472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flow emails the owner's manager via Graph: delete or reassign?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19672" y="3611880"/>
            <a:ext cx="0" cy="384048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5"/>
          <p:cNvSpPr/>
          <p:nvPr/>
        </p:nvSpPr>
        <p:spPr>
          <a:xfrm>
            <a:off x="6309360" y="4059936"/>
            <a:ext cx="420624" cy="420624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Text 26"/>
          <p:cNvSpPr/>
          <p:nvPr/>
        </p:nvSpPr>
        <p:spPr>
          <a:xfrm>
            <a:off x="630936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858000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Quarantine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858000" y="433425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response in N days → app is auto-quarantined to force re-engagement.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519672" y="4498848"/>
            <a:ext cx="0" cy="384048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0"/>
          <p:cNvSpPr/>
          <p:nvPr/>
        </p:nvSpPr>
        <p:spPr>
          <a:xfrm>
            <a:off x="6309360" y="4946904"/>
            <a:ext cx="420624" cy="420624"/>
          </a:xfrm>
          <a:prstGeom prst="ellipse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Text 31"/>
          <p:cNvSpPr/>
          <p:nvPr/>
        </p:nvSpPr>
        <p:spPr>
          <a:xfrm>
            <a:off x="630936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858000" y="4928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6858000" y="522122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reassigns or confirms deletion — control restored.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GOVERNANCE — 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the default environment a safer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maker apps can be routed automatically into governed personal-productivity environments — so the default stops accumulating business-critical work.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5440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5440680" cy="640080"/>
          </a:xfrm>
          <a:prstGeom prst="rect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758952" y="2386584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34" y="2588666"/>
            <a:ext cx="373075" cy="3730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23865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2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95528" y="32004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new apps land in the default environment</a:t>
            </a:r>
            <a:endParaRPr lang="en-US" sz="1250" dirty="0"/>
          </a:p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structured governance or routing</a:t>
            </a:r>
            <a:endParaRPr lang="en-US" sz="1250" dirty="0"/>
          </a:p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separate experiments from real apps</a:t>
            </a:r>
            <a:endParaRPr lang="en-US" sz="1250" dirty="0"/>
          </a:p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Risky resources mixed with productivity ones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2240280"/>
            <a:ext cx="5440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217920" y="2240280"/>
            <a:ext cx="5440680" cy="640080"/>
          </a:xfrm>
          <a:prstGeom prst="rect">
            <a:avLst/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6473952" y="2386584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034" y="2588666"/>
            <a:ext cx="373075" cy="373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3865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routing + DLP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510528" y="32004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apps auto-routed to governed environments</a:t>
            </a:r>
            <a:endParaRPr lang="en-US" sz="1250" dirty="0"/>
          </a:p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protected by DLP data policies</a:t>
            </a:r>
            <a:endParaRPr lang="en-US" sz="1250" dirty="0"/>
          </a:p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separation of personal vs business apps</a:t>
            </a:r>
            <a:endParaRPr lang="en-US" sz="1250" dirty="0"/>
          </a:p>
          <a:p>
            <a:pPr marL="177800" indent="-1778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supported home for new work — no big-bang migration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 BUSINESS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“we can't prove value” into a number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2120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F1D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1927555"/>
            <a:ext cx="351130" cy="3511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 and automation saves someone time. Today that value is invisible because nobody captures it consistently.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7240" y="4069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we ask each owner a simple question — and roll the answers up — the platform's value becomes a single, defensible figure leadership can act 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97880" y="1463040"/>
            <a:ext cx="5760720" cy="1874520"/>
          </a:xfrm>
          <a:prstGeom prst="rect">
            <a:avLst/>
          </a:prstGeom>
          <a:solidFill>
            <a:srgbClr val="E0F4F7"/>
          </a:solidFill>
          <a:ln w="12700">
            <a:solidFill>
              <a:srgbClr val="2BB0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617220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question we put to every owner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72200" y="20574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i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“For this app, roughly how many hours does it save per month — and for how many people?”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897880" y="361188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5"/>
          <p:cNvSpPr/>
          <p:nvPr/>
        </p:nvSpPr>
        <p:spPr>
          <a:xfrm>
            <a:off x="5897880" y="3611880"/>
            <a:ext cx="1828800" cy="73152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6"/>
          <p:cNvSpPr/>
          <p:nvPr/>
        </p:nvSpPr>
        <p:spPr>
          <a:xfrm>
            <a:off x="6126480" y="3886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01" y="4052621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99048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saved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099048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Captured per app, per owner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863840" y="361188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0"/>
          <p:cNvSpPr/>
          <p:nvPr/>
        </p:nvSpPr>
        <p:spPr>
          <a:xfrm>
            <a:off x="7863840" y="3611880"/>
            <a:ext cx="1828800" cy="73152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21"/>
          <p:cNvSpPr/>
          <p:nvPr/>
        </p:nvSpPr>
        <p:spPr>
          <a:xfrm>
            <a:off x="8092440" y="3886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1" y="4052621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65008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Dollar value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065008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× blended rate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829800" y="361188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5"/>
          <p:cNvSpPr/>
          <p:nvPr/>
        </p:nvSpPr>
        <p:spPr>
          <a:xfrm>
            <a:off x="9829800" y="3611880"/>
            <a:ext cx="1828800" cy="73152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Shape 26"/>
          <p:cNvSpPr/>
          <p:nvPr/>
        </p:nvSpPr>
        <p:spPr>
          <a:xfrm>
            <a:off x="10058400" y="3886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4821" y="40526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030968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business unit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10030968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value concentrates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 BUSINESS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value-capture loop works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5420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2542032" cy="82296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731520" y="171907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6" y="1890248"/>
            <a:ext cx="316017" cy="31601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4871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Discover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31520" y="2834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API pulls every app and its owner.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2331720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37560" y="1463040"/>
            <a:ext cx="25420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2"/>
          <p:cNvSpPr/>
          <p:nvPr/>
        </p:nvSpPr>
        <p:spPr>
          <a:xfrm>
            <a:off x="3337560" y="1463040"/>
            <a:ext cx="2542032" cy="82296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3"/>
          <p:cNvSpPr/>
          <p:nvPr/>
        </p:nvSpPr>
        <p:spPr>
          <a:xfrm>
            <a:off x="3566160" y="171907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336" y="1890248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66160" y="24871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Ask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3566160" y="2834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asks owners to quantify hours / $ saved.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331720"/>
            <a:ext cx="237744" cy="23774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72200" y="1463040"/>
            <a:ext cx="25420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17"/>
          <p:cNvSpPr/>
          <p:nvPr/>
        </p:nvSpPr>
        <p:spPr>
          <a:xfrm>
            <a:off x="6172200" y="1463040"/>
            <a:ext cx="2542032" cy="82296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Shape 18"/>
          <p:cNvSpPr/>
          <p:nvPr/>
        </p:nvSpPr>
        <p:spPr>
          <a:xfrm>
            <a:off x="6400800" y="171907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76" y="1890248"/>
            <a:ext cx="316017" cy="3160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0" y="24871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Capture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6400800" y="2834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Responses land in Dataverse — structured &amp; auditable.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2331720"/>
            <a:ext cx="237744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006840" y="1463040"/>
            <a:ext cx="25420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2"/>
          <p:cNvSpPr/>
          <p:nvPr/>
        </p:nvSpPr>
        <p:spPr>
          <a:xfrm>
            <a:off x="9006840" y="1463040"/>
            <a:ext cx="2542032" cy="82296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Shape 23"/>
          <p:cNvSpPr/>
          <p:nvPr/>
        </p:nvSpPr>
        <p:spPr>
          <a:xfrm>
            <a:off x="9235440" y="171907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6616" y="1890248"/>
            <a:ext cx="316017" cy="31601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35440" y="24871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Roll up</a:t>
            </a:r>
            <a:endParaRPr lang="en-US" sz="1550" dirty="0"/>
          </a:p>
        </p:txBody>
      </p:sp>
      <p:sp>
        <p:nvSpPr>
          <p:cNvPr id="34" name="Text 25"/>
          <p:cNvSpPr/>
          <p:nvPr/>
        </p:nvSpPr>
        <p:spPr>
          <a:xfrm>
            <a:off x="9235440" y="2834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shows one consolidated value view.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02920" y="3749040"/>
            <a:ext cx="6400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6" name="Shape 27"/>
          <p:cNvSpPr/>
          <p:nvPr/>
        </p:nvSpPr>
        <p:spPr>
          <a:xfrm>
            <a:off x="502920" y="3749040"/>
            <a:ext cx="6400800" cy="457200"/>
          </a:xfrm>
          <a:prstGeom prst="rect">
            <a:avLst/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7" name="Shape 28"/>
          <p:cNvSpPr/>
          <p:nvPr/>
        </p:nvSpPr>
        <p:spPr>
          <a:xfrm>
            <a:off x="658368" y="379476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6" y="3889858"/>
            <a:ext cx="175565" cy="17556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15568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owner email (mock)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731520" y="4297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Subject: </a:t>
            </a: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value check for your app “Expense Tracker”
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 Priya — we're measuring the value Power Platform delivers.
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~30 seconds: about how many hours/month does this app save, and for how many people?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731520" y="534924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Text 32"/>
          <p:cNvSpPr/>
          <p:nvPr/>
        </p:nvSpPr>
        <p:spPr>
          <a:xfrm>
            <a:off x="731520" y="5349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estimate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2423160" y="5394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opens a 3-field form — no training, no friction.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086600" y="3749040"/>
            <a:ext cx="4572000" cy="2148840"/>
          </a:xfrm>
          <a:prstGeom prst="rect">
            <a:avLst/>
          </a:prstGeom>
          <a:solidFill>
            <a:srgbClr val="E0F4F7"/>
          </a:solidFill>
          <a:ln w="12700">
            <a:solidFill>
              <a:srgbClr val="2BB0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35"/>
          <p:cNvSpPr/>
          <p:nvPr/>
        </p:nvSpPr>
        <p:spPr>
          <a:xfrm>
            <a:off x="7315200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owners respond</a:t>
            </a:r>
            <a:endParaRPr lang="en-US" sz="1400" dirty="0"/>
          </a:p>
        </p:txBody>
      </p:sp>
      <p:sp>
        <p:nvSpPr>
          <p:cNvPr id="46" name="Text 36"/>
          <p:cNvSpPr/>
          <p:nvPr/>
        </p:nvSpPr>
        <p:spPr>
          <a:xfrm>
            <a:off x="7315200" y="4315968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Pre-filled with their app name &amp; details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2–3 numbers — under a minute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Reminders + manager escalation built in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see their app counted in the value story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 BUSINESS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prototype — what we'll build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lightweight solution on stable, supported APIs — reusable every quarter.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2103120" cy="73152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704088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" y="2250521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API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04088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of apps + owners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51460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70632" y="187452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3"/>
          <p:cNvSpPr/>
          <p:nvPr/>
        </p:nvSpPr>
        <p:spPr>
          <a:xfrm>
            <a:off x="2770632" y="1874520"/>
            <a:ext cx="2103120" cy="7315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4"/>
          <p:cNvSpPr/>
          <p:nvPr/>
        </p:nvSpPr>
        <p:spPr>
          <a:xfrm>
            <a:off x="2971800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201" y="225052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39312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97180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reminders + escalation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51460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38344" y="187452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18"/>
          <p:cNvSpPr/>
          <p:nvPr/>
        </p:nvSpPr>
        <p:spPr>
          <a:xfrm>
            <a:off x="5038344" y="1874520"/>
            <a:ext cx="2103120" cy="73152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19"/>
          <p:cNvSpPr/>
          <p:nvPr/>
        </p:nvSpPr>
        <p:spPr>
          <a:xfrm>
            <a:off x="5239512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6913" y="225052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07024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Forms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239512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3-field value capture</a:t>
            </a:r>
            <a:endParaRPr lang="en-US" sz="10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514600"/>
            <a:ext cx="182880" cy="18288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306056" y="187452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1" name="Shape 23"/>
          <p:cNvSpPr/>
          <p:nvPr/>
        </p:nvSpPr>
        <p:spPr>
          <a:xfrm>
            <a:off x="7306056" y="1874520"/>
            <a:ext cx="2103120" cy="73152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2" name="Shape 24"/>
          <p:cNvSpPr/>
          <p:nvPr/>
        </p:nvSpPr>
        <p:spPr>
          <a:xfrm>
            <a:off x="7507224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F1D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4625" y="2250521"/>
            <a:ext cx="272125" cy="2721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174736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Dataverse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507224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&amp; audits responses</a:t>
            </a:r>
            <a:endParaRPr lang="en-US" sz="10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514600"/>
            <a:ext cx="182880" cy="18288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573768" y="187452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8" name="Shape 28"/>
          <p:cNvSpPr/>
          <p:nvPr/>
        </p:nvSpPr>
        <p:spPr>
          <a:xfrm>
            <a:off x="9573768" y="1874520"/>
            <a:ext cx="2103120" cy="73152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9" name="Shape 29"/>
          <p:cNvSpPr/>
          <p:nvPr/>
        </p:nvSpPr>
        <p:spPr>
          <a:xfrm>
            <a:off x="9774936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2337" y="2250521"/>
            <a:ext cx="272125" cy="27212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0442448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42" name="Text 31"/>
          <p:cNvSpPr/>
          <p:nvPr/>
        </p:nvSpPr>
        <p:spPr>
          <a:xfrm>
            <a:off x="9774936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value view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502920" y="3749040"/>
            <a:ext cx="35935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4" name="Shape 33"/>
          <p:cNvSpPr/>
          <p:nvPr/>
        </p:nvSpPr>
        <p:spPr>
          <a:xfrm>
            <a:off x="502920" y="3749040"/>
            <a:ext cx="91440" cy="2148840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5" name="Shape 34"/>
          <p:cNvSpPr/>
          <p:nvPr/>
        </p:nvSpPr>
        <p:spPr>
          <a:xfrm>
            <a:off x="731520" y="39502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" y="4080967"/>
            <a:ext cx="241402" cy="24140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371600" y="395020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the pilot</a:t>
            </a:r>
            <a:endParaRPr lang="en-US" sz="1350" dirty="0"/>
          </a:p>
        </p:txBody>
      </p:sp>
      <p:sp>
        <p:nvSpPr>
          <p:cNvPr id="48" name="Text 36"/>
          <p:cNvSpPr/>
          <p:nvPr/>
        </p:nvSpPr>
        <p:spPr>
          <a:xfrm>
            <a:off x="758952" y="4590288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one business unit (~100–200 apps)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email + form + Dataverse store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first Power BI value dashboard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4343400" y="3749040"/>
            <a:ext cx="35935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0" name="Shape 38"/>
          <p:cNvSpPr/>
          <p:nvPr/>
        </p:nvSpPr>
        <p:spPr>
          <a:xfrm>
            <a:off x="4343400" y="3749040"/>
            <a:ext cx="91440" cy="214884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1" name="Shape 39"/>
          <p:cNvSpPr/>
          <p:nvPr/>
        </p:nvSpPr>
        <p:spPr>
          <a:xfrm>
            <a:off x="4572000" y="39502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759" y="4080967"/>
            <a:ext cx="241402" cy="241402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212080" y="395020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Indicative timeline</a:t>
            </a:r>
            <a:endParaRPr lang="en-US" sz="1350" dirty="0"/>
          </a:p>
        </p:txBody>
      </p:sp>
      <p:sp>
        <p:nvSpPr>
          <p:cNvPr id="54" name="Text 41"/>
          <p:cNvSpPr/>
          <p:nvPr/>
        </p:nvSpPr>
        <p:spPr>
          <a:xfrm>
            <a:off x="4599432" y="4590288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1: connect Inventory + build capture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2: outreach flow + Dataverse model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3: dashboard + first value readout</a:t>
            </a:r>
            <a:endParaRPr lang="en-US" sz="1100" dirty="0"/>
          </a:p>
        </p:txBody>
      </p:sp>
      <p:sp>
        <p:nvSpPr>
          <p:cNvPr id="55" name="Shape 42"/>
          <p:cNvSpPr/>
          <p:nvPr/>
        </p:nvSpPr>
        <p:spPr>
          <a:xfrm>
            <a:off x="8183880" y="3749040"/>
            <a:ext cx="35935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6" name="Shape 43"/>
          <p:cNvSpPr/>
          <p:nvPr/>
        </p:nvSpPr>
        <p:spPr>
          <a:xfrm>
            <a:off x="8183880" y="3749040"/>
            <a:ext cx="91440" cy="2148840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7" name="Shape 44"/>
          <p:cNvSpPr/>
          <p:nvPr/>
        </p:nvSpPr>
        <p:spPr>
          <a:xfrm>
            <a:off x="8412480" y="39502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3239" y="4080967"/>
            <a:ext cx="241402" cy="24140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9052560" y="395020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</a:t>
            </a:r>
            <a:endParaRPr lang="en-US" sz="1350" dirty="0"/>
          </a:p>
        </p:txBody>
      </p:sp>
      <p:sp>
        <p:nvSpPr>
          <p:cNvPr id="60" name="Text 46"/>
          <p:cNvSpPr/>
          <p:nvPr/>
        </p:nvSpPr>
        <p:spPr>
          <a:xfrm>
            <a:off x="8439912" y="4590288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repeatable, supported value process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baseline ROI figure for leadership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pattern to roll out estate-wide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 BUSINESS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value dashboard could look like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solidFill>
            <a:srgbClr val="FBFCFE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solidFill>
            <a:srgbClr val="32323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40080" y="14904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E3A6B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585570"/>
            <a:ext cx="175565" cy="17556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417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 — Business Value Dashboard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4692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9CB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" y="2075688"/>
            <a:ext cx="25877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667512" y="2075688"/>
            <a:ext cx="82296" cy="1143000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850392" y="22402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3591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2185416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12,400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50392" y="282549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saved / yr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364992" y="2075688"/>
            <a:ext cx="25877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7"/>
          <p:cNvSpPr/>
          <p:nvPr/>
        </p:nvSpPr>
        <p:spPr>
          <a:xfrm>
            <a:off x="3364992" y="2075688"/>
            <a:ext cx="82296" cy="1143000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3547872" y="22402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235915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114800" y="2185416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$1.2M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3547872" y="282549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value / yr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062472" y="2075688"/>
            <a:ext cx="25877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2"/>
          <p:cNvSpPr/>
          <p:nvPr/>
        </p:nvSpPr>
        <p:spPr>
          <a:xfrm>
            <a:off x="6062472" y="2075688"/>
            <a:ext cx="82296" cy="114300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3"/>
          <p:cNvSpPr/>
          <p:nvPr/>
        </p:nvSpPr>
        <p:spPr>
          <a:xfrm>
            <a:off x="6245352" y="22402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5915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12280" y="2185416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6245352" y="282549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reporting value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759952" y="2075688"/>
            <a:ext cx="25877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27"/>
          <p:cNvSpPr/>
          <p:nvPr/>
        </p:nvSpPr>
        <p:spPr>
          <a:xfrm>
            <a:off x="8759952" y="2075688"/>
            <a:ext cx="82296" cy="1143000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28"/>
          <p:cNvSpPr/>
          <p:nvPr/>
        </p:nvSpPr>
        <p:spPr>
          <a:xfrm>
            <a:off x="8942832" y="22402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704" y="235915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09760" y="2185416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8942832" y="282549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response rate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67512" y="3355848"/>
            <a:ext cx="6309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2"/>
          <p:cNvSpPr/>
          <p:nvPr/>
        </p:nvSpPr>
        <p:spPr>
          <a:xfrm>
            <a:off x="850392" y="34655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value by business unit ($K / yr)</a:t>
            </a:r>
            <a:endParaRPr lang="en-US" sz="12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713232" y="3813048"/>
          <a:ext cx="62179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1" name="Shape 33"/>
          <p:cNvSpPr/>
          <p:nvPr/>
        </p:nvSpPr>
        <p:spPr>
          <a:xfrm>
            <a:off x="7159752" y="3355848"/>
            <a:ext cx="437083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34"/>
          <p:cNvSpPr/>
          <p:nvPr/>
        </p:nvSpPr>
        <p:spPr>
          <a:xfrm>
            <a:off x="7342632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apps by hours saved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324344" y="3858768"/>
            <a:ext cx="404164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4" name="Text 36"/>
          <p:cNvSpPr/>
          <p:nvPr/>
        </p:nvSpPr>
        <p:spPr>
          <a:xfrm>
            <a:off x="7415784" y="3858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Expense Tracker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10177272" y="3858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2,100 hrs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7324344" y="4187952"/>
            <a:ext cx="4041648" cy="292608"/>
          </a:xfrm>
          <a:prstGeom prst="rect">
            <a:avLst/>
          </a:prstGeom>
          <a:solidFill>
            <a:srgbClr val="F4F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7" name="Text 39"/>
          <p:cNvSpPr/>
          <p:nvPr/>
        </p:nvSpPr>
        <p:spPr>
          <a:xfrm>
            <a:off x="7415784" y="4187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Shift Planner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10177272" y="4187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1,840 hrs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7324344" y="4517136"/>
            <a:ext cx="404164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0" name="Text 42"/>
          <p:cNvSpPr/>
          <p:nvPr/>
        </p:nvSpPr>
        <p:spPr>
          <a:xfrm>
            <a:off x="7415784" y="45171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Quality Logs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10177272" y="4517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1,520 hrs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7324344" y="4846320"/>
            <a:ext cx="4041648" cy="292608"/>
          </a:xfrm>
          <a:prstGeom prst="rect">
            <a:avLst/>
          </a:prstGeom>
          <a:solidFill>
            <a:srgbClr val="F4F8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3" name="Text 45"/>
          <p:cNvSpPr/>
          <p:nvPr/>
        </p:nvSpPr>
        <p:spPr>
          <a:xfrm>
            <a:off x="7415784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Vendor Onboarding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10177272" y="4846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1,180 hrs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7324344" y="5175504"/>
            <a:ext cx="404164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6" name="Text 48"/>
          <p:cNvSpPr/>
          <p:nvPr/>
        </p:nvSpPr>
        <p:spPr>
          <a:xfrm>
            <a:off x="7415784" y="5175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Field Inspections</a:t>
            </a:r>
            <a:endParaRPr lang="en-US" sz="1050" dirty="0"/>
          </a:p>
        </p:txBody>
      </p:sp>
      <p:sp>
        <p:nvSpPr>
          <p:cNvPr id="57" name="Text 49"/>
          <p:cNvSpPr/>
          <p:nvPr/>
        </p:nvSpPr>
        <p:spPr>
          <a:xfrm>
            <a:off x="10177272" y="5175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E66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960 hrs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LOOKING FORWARD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governance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administration in natural language — AI agents that read the tenant and take governed action through MCP and the Admin APIs.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6949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91440" cy="1051560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2726009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24963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63040" y="2880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open protocol that exposes the Power Platform Admin &amp; Inventory APIs to AI agents.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520440"/>
            <a:ext cx="6949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502920" y="3520440"/>
            <a:ext cx="91440" cy="105156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731520" y="37673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3914729"/>
            <a:ext cx="272125" cy="2721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36850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CLI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463040" y="4069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Scriptable, auditable governance from the terminal and CI/CD pipelines.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4709160"/>
            <a:ext cx="6949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502920" y="4709160"/>
            <a:ext cx="91440" cy="1051560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Shape 19"/>
          <p:cNvSpPr/>
          <p:nvPr/>
        </p:nvSpPr>
        <p:spPr>
          <a:xfrm>
            <a:off x="731520" y="495604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" y="5103449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63040" y="48737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Scout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463040" y="5257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conversational desktop agent for ad-hoc administration and reporting.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726680" y="2331720"/>
            <a:ext cx="3931920" cy="3520440"/>
          </a:xfrm>
          <a:prstGeom prst="rect">
            <a:avLst/>
          </a:prstGeom>
          <a:solidFill>
            <a:srgbClr val="F1F2F3"/>
          </a:solidFill>
          <a:ln w="127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3"/>
          <p:cNvSpPr/>
          <p:nvPr/>
        </p:nvSpPr>
        <p:spPr>
          <a:xfrm>
            <a:off x="795528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in,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action out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9464040" y="33375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8574" y="3492094"/>
            <a:ext cx="285293" cy="285293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601200" y="4041648"/>
            <a:ext cx="320040" cy="32004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464040" y="44805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8574" y="463509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955280" y="5257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ask  →  agent plans  →  MCP calls APIs  →  action, with guardrails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GOVERNANCE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 — act with guardrails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722376" y="16642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1806854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2376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asks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22376" y="259689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“Find apps with no owner, unused for 90 days.”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176272"/>
            <a:ext cx="210312" cy="2103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55848" y="14630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3575304" y="16642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950" y="18068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5304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75304" y="259689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CLI / Scout interprets intent &amp; plans steps.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176272"/>
            <a:ext cx="210312" cy="21031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08776" y="14630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5"/>
          <p:cNvSpPr/>
          <p:nvPr/>
        </p:nvSpPr>
        <p:spPr>
          <a:xfrm>
            <a:off x="6428232" y="16642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878" y="1806854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28232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28232" y="259689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Power Platform Admin &amp; Inventory APIs securely.</a:t>
            </a:r>
            <a:endParaRPr lang="en-US" sz="10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2176272"/>
            <a:ext cx="210312" cy="21031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61704" y="14630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19"/>
          <p:cNvSpPr/>
          <p:nvPr/>
        </p:nvSpPr>
        <p:spPr>
          <a:xfrm>
            <a:off x="9281160" y="16642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3806" y="1806854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8116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action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9281160" y="259689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results — or quarantines, under your policy.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02920" y="3474720"/>
            <a:ext cx="6675120" cy="2423160"/>
          </a:xfrm>
          <a:prstGeom prst="rect">
            <a:avLst/>
          </a:prstGeom>
          <a:solidFill>
            <a:srgbClr val="0D1B2E"/>
          </a:solidFill>
          <a:ln/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Shape 23"/>
          <p:cNvSpPr/>
          <p:nvPr/>
        </p:nvSpPr>
        <p:spPr>
          <a:xfrm>
            <a:off x="502920" y="3474720"/>
            <a:ext cx="6675120" cy="365760"/>
          </a:xfrm>
          <a:prstGeom prst="rect">
            <a:avLst/>
          </a:prstGeom>
          <a:solidFill>
            <a:srgbClr val="1B305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Shape 24"/>
          <p:cNvSpPr/>
          <p:nvPr/>
        </p:nvSpPr>
        <p:spPr>
          <a:xfrm>
            <a:off x="685800" y="3584448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25"/>
          <p:cNvSpPr/>
          <p:nvPr/>
        </p:nvSpPr>
        <p:spPr>
          <a:xfrm>
            <a:off x="914400" y="3584448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Shape 26"/>
          <p:cNvSpPr/>
          <p:nvPr/>
        </p:nvSpPr>
        <p:spPr>
          <a:xfrm>
            <a:off x="1143000" y="358444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6" name="Text 27"/>
          <p:cNvSpPr/>
          <p:nvPr/>
        </p:nvSpPr>
        <p:spPr>
          <a:xfrm>
            <a:off x="1463040" y="34930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— power-platform-admin MCP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731520" y="3977640"/>
            <a:ext cx="6263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"list orphaned apps in Default, email each manager to reassign"
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1050" dirty="0">
                <a:solidFill>
                  <a:srgbClr val="C7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212 orphaned apps found via Inventory API
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1050" dirty="0">
                <a:solidFill>
                  <a:srgbClr val="C7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 managers resolved via Graph — reassignment emails queued
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r>
              <a:rPr lang="en-US" sz="1050" dirty="0">
                <a:solidFill>
                  <a:srgbClr val="C7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with no manager → flagged for quarantine in 14 days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7360920" y="3474720"/>
            <a:ext cx="4297680" cy="2423160"/>
          </a:xfrm>
          <a:prstGeom prst="rect">
            <a:avLst/>
          </a:prstGeom>
          <a:solidFill>
            <a:srgbClr val="E0F4F7"/>
          </a:solidFill>
          <a:ln w="12700">
            <a:solidFill>
              <a:srgbClr val="2BB0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0"/>
          <p:cNvSpPr/>
          <p:nvPr/>
        </p:nvSpPr>
        <p:spPr>
          <a:xfrm>
            <a:off x="758952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agentic, why now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7589520" y="4069080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 toolkit to maintain — agents call supported APIs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&amp; auditable: every action logged in history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Lowers IT overhead — admins describe intent, not scripts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Copilot CLI for automation or Scout for ad-hoc asks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phased, pragmatic plan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8778240" cy="0"/>
          </a:xfrm>
          <a:prstGeom prst="line">
            <a:avLst/>
          </a:prstGeom>
          <a:noFill/>
          <a:ln w="25400">
            <a:solidFill>
              <a:srgbClr val="E6E7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DA4D8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2651760" cy="73152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A4D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343046"/>
            <a:ext cx="263347" cy="26334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trust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1520" y="437083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up PPAC Inventory; show consistent numbers; triage the unmanaged tail of apps.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20440" y="2057400"/>
            <a:ext cx="457200" cy="457200"/>
          </a:xfrm>
          <a:prstGeom prst="ellipse">
            <a:avLst/>
          </a:prstGeom>
          <a:solidFill>
            <a:srgbClr val="5A8F4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6"/>
          <p:cNvSpPr/>
          <p:nvPr/>
        </p:nvSpPr>
        <p:spPr>
          <a:xfrm>
            <a:off x="3520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429000" y="2788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8"/>
          <p:cNvSpPr/>
          <p:nvPr/>
        </p:nvSpPr>
        <p:spPr>
          <a:xfrm>
            <a:off x="3429000" y="2788920"/>
            <a:ext cx="2651760" cy="73152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36576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8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246" y="334304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576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value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3657600" y="437083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value-capture prototype; deliver the first consolidated ROI dashboard.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2BB0C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4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355080" y="2788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6"/>
          <p:cNvSpPr/>
          <p:nvPr/>
        </p:nvSpPr>
        <p:spPr>
          <a:xfrm>
            <a:off x="6355080" y="2788920"/>
            <a:ext cx="2651760" cy="7315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Text 27"/>
          <p:cNvSpPr/>
          <p:nvPr/>
        </p:nvSpPr>
        <p:spPr>
          <a:xfrm>
            <a:off x="65836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58368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26" y="3343046"/>
            <a:ext cx="263347" cy="26334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5836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 at scale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6583680" y="437083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Managed Environments; automate compliance, orphan cleanup &amp; routing.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9372600" y="2057400"/>
            <a:ext cx="457200" cy="457200"/>
          </a:xfrm>
          <a:prstGeom prst="ellipse">
            <a:avLst/>
          </a:prstGeom>
          <a:solidFill>
            <a:srgbClr val="7A5CC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2"/>
          <p:cNvSpPr/>
          <p:nvPr/>
        </p:nvSpPr>
        <p:spPr>
          <a:xfrm>
            <a:off x="9372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9281160" y="2788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9" name="Shape 34"/>
          <p:cNvSpPr/>
          <p:nvPr/>
        </p:nvSpPr>
        <p:spPr>
          <a:xfrm>
            <a:off x="9281160" y="2788920"/>
            <a:ext cx="2651760" cy="73152"/>
          </a:xfrm>
          <a:prstGeom prst="rect">
            <a:avLst/>
          </a:prstGeom>
          <a:solidFill>
            <a:srgbClr val="7A5CC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0" name="Text 35"/>
          <p:cNvSpPr/>
          <p:nvPr/>
        </p:nvSpPr>
        <p:spPr>
          <a:xfrm>
            <a:off x="95097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5C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50976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DE8F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406" y="3343046"/>
            <a:ext cx="263347" cy="263347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50976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agentic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9509760" y="437083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 MCP + Copilot CLI / Scout for self-running, low-overhead administration.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first, value second, scale third, autonomy fourth — each phase makes the next easier.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F1F2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170432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91440" cy="1234440"/>
          </a:xfrm>
          <a:prstGeom prst="rect">
            <a:avLst/>
          </a:prstGeom>
          <a:solidFill>
            <a:srgbClr val="DA4D8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758952" y="184708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BE9F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018264"/>
            <a:ext cx="316017" cy="31601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17739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workshop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4592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the target governance model and success measures together.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5544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91440" cy="123444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428232" y="184708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408" y="2018264"/>
            <a:ext cx="316017" cy="31601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17739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conversation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31520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 from a peer running native governance at enterprise scale.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2971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7"/>
          <p:cNvSpPr/>
          <p:nvPr/>
        </p:nvSpPr>
        <p:spPr>
          <a:xfrm>
            <a:off x="502920" y="2971800"/>
            <a:ext cx="91440" cy="1234440"/>
          </a:xfrm>
          <a:prstGeom prst="rect">
            <a:avLst/>
          </a:prstGeom>
          <a:solidFill>
            <a:srgbClr val="5A8F4D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Shape 18"/>
          <p:cNvSpPr/>
          <p:nvPr/>
        </p:nvSpPr>
        <p:spPr>
          <a:xfrm>
            <a:off x="758952" y="326440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F1E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3435584"/>
            <a:ext cx="316017" cy="31601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45920" y="319125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demo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64592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real, consistent estate in PPAC Inventory within days.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72200" y="2971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  <a:prstDash val="solid"/>
          </a:ln>
          <a:effectLst>
            <a:outerShdw blurRad="101600" dist="25400" dir="5400000" algn="bl" rotWithShape="0">
              <a:srgbClr val="B8B8BC">
                <a:alpha val="2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2"/>
          <p:cNvSpPr/>
          <p:nvPr/>
        </p:nvSpPr>
        <p:spPr>
          <a:xfrm>
            <a:off x="6172200" y="2971800"/>
            <a:ext cx="91440" cy="1234440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3"/>
          <p:cNvSpPr/>
          <p:nvPr/>
        </p:nvSpPr>
        <p:spPr>
          <a:xfrm>
            <a:off x="6428232" y="326440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BF1D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9408" y="3435584"/>
            <a:ext cx="316017" cy="31601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319125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prototype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1520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Co-build the ROI capture loop and produce a first value dashboard.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02920" y="4526280"/>
            <a:ext cx="11155680" cy="1280160"/>
          </a:xfrm>
          <a:prstGeom prst="rect">
            <a:avLst/>
          </a:prstGeom>
          <a:solidFill>
            <a:srgbClr val="E0F4F7"/>
          </a:solidFill>
          <a:ln w="12700">
            <a:solidFill>
              <a:srgbClr val="2BB0C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27"/>
          <p:cNvSpPr/>
          <p:nvPr/>
        </p:nvSpPr>
        <p:spPr>
          <a:xfrm>
            <a:off x="777240" y="482803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80" y="5013472"/>
            <a:ext cx="342351" cy="34235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9164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headline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69164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Visibility, business value and control are now native, supported and increasingly agentic — let's stand up the inventory and the value prototype first.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E0F4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8321040" y="0"/>
            <a:ext cx="73152" cy="6858000"/>
          </a:xfrm>
          <a:prstGeom prst="rect">
            <a:avLst/>
          </a:prstGeom>
          <a:solidFill>
            <a:srgbClr val="2BB0C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9418320" y="233172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034" y="2783434"/>
            <a:ext cx="833933" cy="8339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C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DISCUSS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3774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232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would make the biggest difference for your team first — visibility, the value dashboard, or governance automation?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CAT  ·  Business Value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Microsoft Office PowerPoint</Application>
  <PresentationFormat>Widescreen</PresentationFormat>
  <Paragraphs>365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Governance for Power Platform</dc:title>
  <dc:subject>PptxGenJS Presentation</dc:subject>
  <dc:creator>Microsoft Power CAT</dc:creator>
  <cp:lastModifiedBy>Ilya Fainberg</cp:lastModifiedBy>
  <cp:revision>2</cp:revision>
  <dcterms:created xsi:type="dcterms:W3CDTF">2026-06-18T23:19:26Z</dcterms:created>
  <dcterms:modified xsi:type="dcterms:W3CDTF">2026-06-19T16:55:49Z</dcterms:modified>
</cp:coreProperties>
</file>